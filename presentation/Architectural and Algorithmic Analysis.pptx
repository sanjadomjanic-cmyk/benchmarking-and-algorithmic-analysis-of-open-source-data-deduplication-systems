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trictFirstAndLastChars="0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5D93888-E404-49B0-9307-86BD6E8A61ED}">
  <a:tblStyle styleId="{65D93888-E404-49B0-9307-86BD6E8A61ED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2276425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4842999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700331-B9FA-1F1D-B923-207341F927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E710D4-BB11-8F55-2E48-EA2EDE0F795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9B9C2-68A7-53B9-25EA-0CA8518BB1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A79E61-4447-9349-CA6D-2FBCA80D2E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FCFF79-045E-2ADA-10FC-552ABE6A601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637753" name="Google Shape;51;p:notes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0748407" name="Google Shape;52;p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0961" name="Google Shape;58;g3ac732f5f08_0_7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9805728" name="Google Shape;59;g3ac732f5f08_0_7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430359" name="Google Shape;65;g3ac732f5f08_0_22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600199" name="Google Shape;66;g3ac732f5f08_0_22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480524" name="Google Shape;72;g3ac732f5f08_0_34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5723738" name="Google Shape;73;g3ac732f5f08_0_3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7745399" name="Google Shape;79;g3ac732f5f08_0_41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222984" name="Google Shape;80;g3ac732f5f08_0_4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65CEC4-7EC8-524E-BE55-9274D1C43E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501156" name="Google Shape;10;p2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515148904" name="Google Shape;11;p2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1582721725" name="Google Shape;12;p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041365" name="Google Shape;17;p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7292554" name="Google Shape;18;p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1527911" name="Google Shape;19;p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8233686" name="Google Shape;21;p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4522722" name="Google Shape;22;p5"/>
          <p:cNvSpPr txBox="1"/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880186545" name="Google Shape;23;p5"/>
          <p:cNvSpPr txBox="1"/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1191513144" name="Google Shape;24;p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2126395" name="Google Shape;26;p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58963561" name="Google Shape;27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6888824" name="Google Shape;29;p7"/>
          <p:cNvSpPr txBox="1"/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876592216" name="Google Shape;30;p7"/>
          <p:cNvSpPr txBox="1"/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605771174" name="Google Shape;31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4888844" name="Google Shape;33;p8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116012633" name="Google Shape;34;p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7676113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411763919" name="Google Shape;37;p9"/>
          <p:cNvSpPr txBox="1"/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81080026" name="Google Shape;38;p9"/>
          <p:cNvSpPr txBox="1"/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628534453" name="Google Shape;39;p9"/>
          <p:cNvSpPr txBox="1"/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42405029" name="Google Shape;40;p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15795" name="Google Shape;42;p10"/>
          <p:cNvSpPr txBox="1"/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341708449" name="Google Shape;43;p1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0065509" name="Google Shape;45;p11"/>
          <p:cNvSpPr txBox="1"/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2058967520" name="Google Shape;46;p11"/>
          <p:cNvSpPr txBox="1"/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34191571" name="Google Shape;47;p1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4747366" name="Google Shape;49;p1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0698696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165260959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569954672" name="Google Shape;8;p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s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8698172" name="Google Shape;10;p2"/>
          <p:cNvSpPr txBox="1"/>
          <p:nvPr>
            <p:ph type="ctrTitle"/>
          </p:nvPr>
        </p:nvSpPr>
        <p:spPr bwMode="auto">
          <a:xfrm>
            <a:off x="311707" y="1807824"/>
            <a:ext cx="8520599" cy="2052599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b" anchorCtr="0" forceAA="0" upright="0" compatLnSpc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r>
              <a:rPr lang="en-US" sz="36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</a:rPr>
              <a:t>Benchmarking and Algorithmic Analysis of Open-Source Data Deduplication Systems</a:t>
            </a:r>
            <a:endParaRPr sz="3600"/>
          </a:p>
        </p:txBody>
      </p:sp>
      <p:sp>
        <p:nvSpPr>
          <p:cNvPr id="650386026" name="Google Shape;11;p2"/>
          <p:cNvSpPr txBox="1"/>
          <p:nvPr>
            <p:ph type="subTitle" idx="1"/>
          </p:nvPr>
        </p:nvSpPr>
        <p:spPr bwMode="auto">
          <a:xfrm>
            <a:off x="311699" y="2834124"/>
            <a:ext cx="8520599" cy="792599"/>
          </a:xfrm>
          <a:prstGeom prst="rect">
            <a:avLst/>
          </a:prstGeom>
        </p:spPr>
        <p:txBody>
          <a:bodyPr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7767398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sz="1800" b="1">
                <a:solidFill>
                  <a:srgbClr val="0000FF"/>
                </a:solidFill>
              </a:rPr>
              <a:t>The beginning</a:t>
            </a:r>
            <a:endParaRPr/>
          </a:p>
        </p:txBody>
      </p:sp>
      <p:sp>
        <p:nvSpPr>
          <p:cNvPr id="155219487" name="Google Shape;18;p4"/>
          <p:cNvSpPr txBox="1"/>
          <p:nvPr>
            <p:ph type="body" idx="1"/>
          </p:nvPr>
        </p:nvSpPr>
        <p:spPr bwMode="auto">
          <a:xfrm>
            <a:off x="311699" y="1152474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algn="ctr">
              <a:defRPr/>
            </a:pPr>
            <a:r>
              <a:rPr sz="1600"/>
              <a:t>How it started?</a:t>
            </a:r>
            <a:endParaRPr sz="1400"/>
          </a:p>
          <a:p>
            <a:pPr>
              <a:defRPr/>
            </a:pPr>
            <a:endParaRPr sz="1400"/>
          </a:p>
          <a:p>
            <a:pPr>
              <a:defRPr/>
            </a:pPr>
            <a:endParaRPr sz="1400"/>
          </a:p>
          <a:p>
            <a:pPr algn="ctr">
              <a:defRPr/>
            </a:pPr>
            <a:r>
              <a:rPr sz="1600"/>
              <a:t>Why it went this way?</a:t>
            </a:r>
            <a:endParaRPr sz="1400"/>
          </a:p>
          <a:p>
            <a:pPr>
              <a:defRPr/>
            </a:pPr>
            <a:endParaRPr sz="1400"/>
          </a:p>
          <a:p>
            <a:pPr>
              <a:defRPr/>
            </a:pPr>
            <a:endParaRPr sz="1400"/>
          </a:p>
          <a:p>
            <a:pPr algn="ctr">
              <a:defRPr/>
            </a:pPr>
            <a:r>
              <a:rPr sz="1600"/>
              <a:t>How it’s going?</a:t>
            </a:r>
            <a:endParaRPr sz="1400"/>
          </a:p>
          <a:p>
            <a:pPr>
              <a:defRPr/>
            </a:pPr>
            <a:endParaRPr sz="1400"/>
          </a:p>
          <a:p>
            <a:pPr>
              <a:defRPr/>
            </a:pPr>
            <a:endParaRPr sz="1400"/>
          </a:p>
          <a:p>
            <a:pPr algn="ctr">
              <a:defRPr/>
            </a:pPr>
            <a:r>
              <a:rPr sz="1600"/>
              <a:t>When to stop?</a:t>
            </a: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7084280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sz="1800" b="1">
                <a:solidFill>
                  <a:srgbClr val="0000FF"/>
                </a:solidFill>
              </a:rPr>
              <a:t>Database design(s)</a:t>
            </a:r>
            <a:endParaRPr sz="1800" b="1">
              <a:solidFill>
                <a:srgbClr val="0000FF"/>
              </a:solidFill>
            </a:endParaRPr>
          </a:p>
        </p:txBody>
      </p:sp>
      <p:sp>
        <p:nvSpPr>
          <p:cNvPr id="1983166034" name="Google Shape;18;p4"/>
          <p:cNvSpPr txBox="1"/>
          <p:nvPr>
            <p:ph type="body" idx="1"/>
          </p:nvPr>
        </p:nvSpPr>
        <p:spPr bwMode="auto">
          <a:xfrm>
            <a:off x="311699" y="1152474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DB 1 ~ 100 GB</a:t>
            </a:r>
            <a:endParaRPr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>
              <a:defRPr/>
            </a:pPr>
            <a:endParaRPr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~ 30 GB iso files</a:t>
            </a:r>
            <a:endParaRPr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~ 50+ GB data/text/audio</a:t>
            </a:r>
            <a:endParaRPr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~ 20 GB image/video</a:t>
            </a:r>
            <a:endParaRPr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NOTE: mostly non-synthetic data, synthetic was created using Faker</a:t>
            </a:r>
            <a:endParaRPr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6367265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sz="1800" b="1">
                <a:solidFill>
                  <a:srgbClr val="0000FF"/>
                </a:solidFill>
              </a:rPr>
              <a:t>iostat</a:t>
            </a:r>
            <a:endParaRPr/>
          </a:p>
        </p:txBody>
      </p:sp>
      <p:sp>
        <p:nvSpPr>
          <p:cNvPr id="1697380923" name="Google Shape;18;p4"/>
          <p:cNvSpPr txBox="1"/>
          <p:nvPr>
            <p:ph type="body" idx="1"/>
          </p:nvPr>
        </p:nvSpPr>
        <p:spPr bwMode="auto">
          <a:xfrm flipH="0" flipV="0">
            <a:off x="311699" y="1152474"/>
            <a:ext cx="8520599" cy="3623829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t" anchorCtr="0" forceAA="0" upright="0" compatLnSpc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COMMAND: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endParaRPr lang="en-US"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iostat -cdh sda 2 &gt; sample.txt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—————————————————————————————————————————————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OUTPUT: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avg-cpu:  %user   %nice %system %iowait  %steal   %idle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        	   3.3%    0.1%    8.5%    0.1%    0.0%   88.0%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>
              <a:defRPr/>
            </a:pPr>
            <a:endParaRPr lang="en-US"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 tps    kB_read/s    kB_wrtn/s    kB_dscd/s    kB_read    kB_wrtn    kB_dscd Device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1.94 	   118.8k         6.7k     	    0.0k    	 784.0M      44.4M     	  0.0k 	sda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endParaRPr lang="en-US"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1181108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sz="1800" b="1">
                <a:solidFill>
                  <a:srgbClr val="0000FF"/>
                </a:solidFill>
              </a:rPr>
              <a:t>VDO</a:t>
            </a:r>
            <a:endParaRPr/>
          </a:p>
        </p:txBody>
      </p:sp>
      <p:sp>
        <p:nvSpPr>
          <p:cNvPr id="1867349303" name="Google Shape;18;p4"/>
          <p:cNvSpPr txBox="1"/>
          <p:nvPr>
            <p:ph type="body" idx="1"/>
          </p:nvPr>
        </p:nvSpPr>
        <p:spPr bwMode="auto">
          <a:xfrm flipH="0" flipV="0">
            <a:off x="311699" y="1152474"/>
            <a:ext cx="8897212" cy="3748068"/>
          </a:xfrm>
          <a:prstGeom prst="rect">
            <a:avLst/>
          </a:prstGeom>
        </p:spPr>
        <p:txBody>
          <a:bodyPr spcFirstLastPara="1" vertOverflow="overflow" horzOverflow="overflow" vert="horz" wrap="square" lIns="91424" tIns="91424" rIns="91424" bIns="91424" numCol="1" spcCol="0" rtlCol="0" fromWordArt="0" anchor="t" anchorCtr="0" forceAA="0" upright="0" compatLnSpc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marL="114299" indent="0">
              <a:buClr>
                <a:schemeClr val="dk2"/>
              </a:buClr>
              <a:buSzPts val="1800"/>
              <a:buNone/>
              <a:defRPr/>
            </a:pPr>
            <a:endParaRPr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1. locate available disks with lsblk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2. zoom in on 'sda' disk with generalized sudo fdisk -l command</a:t>
            </a:r>
            <a:endParaRPr sz="14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3. calculate storage and memory needs</a:t>
            </a:r>
            <a:endParaRPr sz="1400"/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endParaRPr sz="1400"/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endParaRPr sz="1400"/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... storage space = VDO metadata + UDS dedup index --&gt; approx. 2.5 GB disk usage + 4-5 GB for dense index storage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... RAM required: min. 250 + (370 + 1 * 268) MB = 888 MB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// ’*1’ is because we have 1 TB or less physical storage</a:t>
            </a:r>
            <a:endParaRPr lang="en-US" sz="1400" b="0" i="0" u="none" strike="noStrike" cap="none" spc="0">
              <a:solidFill>
                <a:schemeClr val="dk2"/>
              </a:solidFill>
              <a:latin typeface="Arial"/>
              <a:ea typeface="Arial"/>
              <a:cs typeface="Arial"/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lang="en-US" sz="14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... 1 GB RAM --&gt; 1 TB dedup window (for dense index)</a:t>
            </a:r>
            <a:endParaRPr/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 b="1">
                <a:solidFill>
                  <a:srgbClr val="0000FF"/>
                </a:solidFill>
              </a:rPr>
              <a:t>							issues?? yup...</a:t>
            </a:r>
            <a:endParaRPr b="1">
              <a:solidFill>
                <a:srgbClr val="0000FF"/>
              </a:solidFill>
            </a:endParaRPr>
          </a:p>
          <a:p>
            <a:pPr marL="114299" indent="0">
              <a:buClr>
                <a:schemeClr val="dk2"/>
              </a:buClr>
              <a:buSzPts val="1800"/>
              <a:buNone/>
              <a:defRPr/>
            </a:pPr>
            <a:r>
              <a:rPr/>
              <a:t>	</a:t>
            </a:r>
            <a:endParaRPr lang="en-US" sz="1800" b="0" i="0" u="none" strike="noStrike" cap="none" spc="0">
              <a:solidFill>
                <a:schemeClr val="dk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263050" name="Google Shape;54;p13"/>
          <p:cNvSpPr txBox="1"/>
          <p:nvPr/>
        </p:nvSpPr>
        <p:spPr bwMode="auto">
          <a:xfrm>
            <a:off x="96599" y="51099"/>
            <a:ext cx="4475759" cy="4575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sr" sz="1800" b="1">
                <a:solidFill>
                  <a:srgbClr val="0000FF"/>
                </a:solidFill>
              </a:rPr>
              <a:t>Comparative </a:t>
            </a:r>
            <a:r>
              <a:rPr lang="sr" sz="1800" b="1">
                <a:solidFill>
                  <a:srgbClr val="0000FF"/>
                </a:solidFill>
              </a:rPr>
              <a:t>Algorithmic Matrix</a:t>
            </a:r>
            <a:endParaRPr sz="1800" b="1">
              <a:solidFill>
                <a:srgbClr val="0000FF"/>
              </a:solidFill>
            </a:endParaRPr>
          </a:p>
        </p:txBody>
      </p:sp>
      <p:graphicFrame>
        <p:nvGraphicFramePr>
          <p:cNvPr id="2050086252" name="Google Shape;55;p13"/>
          <p:cNvGraphicFramePr>
            <a:graphicFrameLocks xmlns:a="http://schemas.openxmlformats.org/drawingml/2006/main"/>
          </p:cNvGraphicFramePr>
          <p:nvPr/>
        </p:nvGraphicFramePr>
        <p:xfrm rot="0">
          <a:off x="952500" y="666750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{65D93888-E404-49B0-9307-86BD6E8A61ED}</a:tableStyleId>
                <a:noFill/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>
                  <a:txBody>
                    <a:bodyPr/>
                    <a:p>
                      <a:pPr marL="0" lvl="0" indent="0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1100" b="1"/>
                        <a:t>Feature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1100" b="1"/>
                        <a:t>Restic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1100" b="1"/>
                        <a:t>BorgBackup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1100" b="1"/>
                        <a:t>Kopia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1100" b="1"/>
                        <a:t>VDO</a:t>
                      </a:r>
                      <a:endParaRPr sz="11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ctr" rtl="0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1100" b="1"/>
                        <a:t>OpenZFS</a:t>
                      </a:r>
                      <a:endParaRPr sz="1100" b="1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Chunking method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Content-defined chunking (AE, UltraCDC, TTC)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Content-defined (Rabin, FastCDC, AE)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Variable-size CDC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Fixed blocks + BSW / TTTD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Fixed block-level</a:t>
                      </a:r>
                      <a:endParaRPr sz="800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Hashing function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SHA3-512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Cryptographic fingerprinting (e.g., SHA variants)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SHA-256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MD5 / SHA-1 / SHA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Cryptographic checksums (e.g., SHA-256)</a:t>
                      </a:r>
                      <a:endParaRPr sz="800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Index type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Partitioned hash index + EHID/HID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Local hash index + Bloom filters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Partitioned indexes + Bloom filters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Central index + Bloom filters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DDT (Deduplication Table)</a:t>
                      </a:r>
                      <a:endParaRPr sz="800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Index location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RAM + disk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Disk with RAM cache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RAM + disk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RAM + SSD/HDD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Primarily RAM</a:t>
                      </a:r>
                      <a:endParaRPr sz="800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Snapshot design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Object-based immutable snapshots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Archive-based snapshots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Versioned metadata snapshots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Not native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Native ZFS snapshots</a:t>
                      </a:r>
                      <a:endParaRPr sz="800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Compression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Optional, after dedup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Optional, after dedup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Automatic, after dedup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Inline compression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Inline compression</a:t>
                      </a:r>
                      <a:endParaRPr sz="800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Encryption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RSA + SHA3-512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AES / convergent cipher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AEAD encryption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AES-256 + convergent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ZFS native encryption</a:t>
                      </a:r>
                      <a:endParaRPr sz="800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Dedup granularity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Chunk-level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Chunk-level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Chunk-level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Block-level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Block-level</a:t>
                      </a:r>
                      <a:endParaRPr sz="800"/>
                    </a:p>
                  </a:txBody>
                  <a:tcPr marL="91425" marR="91425" marT="91425" marB="91425"/>
                </a:tc>
              </a:tr>
              <a:tr h="381000"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 b="1"/>
                        <a:t>Metadata model</a:t>
                      </a:r>
                      <a:endParaRPr sz="8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Content-indexed objects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Repository + segment metadata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Container-based metadata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Index servers + Merkle trees</a:t>
                      </a:r>
                      <a:endParaRPr sz="800"/>
                    </a:p>
                  </a:txBody>
                  <a:tcPr marL="91425" marR="91425" marT="91425" marB="91425"/>
                </a:tc>
                <a:tc>
                  <a:txBody>
                    <a:bodyPr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sr" sz="800"/>
                        <a:t>DDT + transaction groups</a:t>
                      </a:r>
                      <a:endParaRPr sz="800"/>
                    </a:p>
                  </a:txBody>
                  <a:tcPr marL="91425" marR="91425" marT="91425" marB="91425"/>
                </a:tc>
              </a:tr>
            </a:tbl>
          </a:graphicData>
        </a:graphic>
      </p:graphicFrame>
      <p:cxnSp>
        <p:nvCxnSpPr>
          <p:cNvPr id="533148818" name="Google Shape;56;p13"/>
          <p:cNvCxnSpPr/>
          <p:nvPr/>
        </p:nvCxnSpPr>
        <p:spPr bwMode="auto">
          <a:xfrm>
            <a:off x="23300" y="512799"/>
            <a:ext cx="4211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570829" name="Google Shape;61;p14"/>
          <p:cNvSpPr txBox="1"/>
          <p:nvPr>
            <p:ph type="body" idx="1"/>
          </p:nvPr>
        </p:nvSpPr>
        <p:spPr bwMode="auto">
          <a:xfrm>
            <a:off x="311700" y="699275"/>
            <a:ext cx="8520600" cy="43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 User-space vs Kernel-space Deduplication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  <a:defRPr/>
            </a:pPr>
            <a:r>
              <a:rPr lang="sr" sz="1100">
                <a:solidFill>
                  <a:schemeClr val="dk1"/>
                </a:solidFill>
              </a:rPr>
              <a:t>User-space (Restic, Borg, Kopia): higher flexibility and portability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  <a:defRPr/>
            </a:pPr>
            <a:r>
              <a:rPr lang="sr" sz="1100">
                <a:solidFill>
                  <a:schemeClr val="dk1"/>
                </a:solidFill>
              </a:rPr>
              <a:t>Kernel-space (VDO, OpenZFS): transparent operation, higher system impact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Block-level vs File-level Deduplication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  <a:defRPr/>
            </a:pPr>
            <a:r>
              <a:rPr lang="sr" sz="1100">
                <a:solidFill>
                  <a:schemeClr val="dk1"/>
                </a:solidFill>
              </a:rPr>
              <a:t>Block-level (VDO, OpenZFS): operates below the filesystem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  <a:defRPr/>
            </a:pPr>
            <a:r>
              <a:rPr lang="sr" sz="1100">
                <a:solidFill>
                  <a:schemeClr val="dk1"/>
                </a:solidFill>
              </a:rPr>
              <a:t>File-level / chunk-level (Restic, Borg, Kopia): optimized for backups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Metadata Scalability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  <a:defRPr/>
            </a:pPr>
            <a:r>
              <a:rPr lang="sr" sz="1100">
                <a:solidFill>
                  <a:schemeClr val="dk1"/>
                </a:solidFill>
              </a:rPr>
              <a:t>OpenZFS: large metadata structures require significant RAM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  <a:defRPr/>
            </a:pPr>
            <a:r>
              <a:rPr lang="sr" sz="1100">
                <a:solidFill>
                  <a:schemeClr val="dk1"/>
                </a:solidFill>
              </a:rPr>
              <a:t>User-space tools: partitioned indexes improve scalability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sp>
        <p:nvSpPr>
          <p:cNvPr id="946748044" name="Google Shape;62;p14"/>
          <p:cNvSpPr txBox="1"/>
          <p:nvPr/>
        </p:nvSpPr>
        <p:spPr bwMode="auto">
          <a:xfrm>
            <a:off x="96599" y="51100"/>
            <a:ext cx="44754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sr" sz="1800" b="1">
                <a:solidFill>
                  <a:srgbClr val="0000FF"/>
                </a:solidFill>
              </a:rPr>
              <a:t>Key Architectural Differences</a:t>
            </a:r>
            <a:endParaRPr sz="1800" b="1">
              <a:solidFill>
                <a:srgbClr val="0000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b="1">
              <a:solidFill>
                <a:srgbClr val="0000FF"/>
              </a:solidFill>
            </a:endParaRPr>
          </a:p>
        </p:txBody>
      </p:sp>
      <p:cxnSp>
        <p:nvCxnSpPr>
          <p:cNvPr id="425819471" name="Google Shape;63;p14"/>
          <p:cNvCxnSpPr/>
          <p:nvPr/>
        </p:nvCxnSpPr>
        <p:spPr bwMode="auto">
          <a:xfrm>
            <a:off x="23300" y="512799"/>
            <a:ext cx="421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067217" name="Google Shape;68;p15"/>
          <p:cNvSpPr txBox="1"/>
          <p:nvPr>
            <p:ph type="body" idx="1"/>
          </p:nvPr>
        </p:nvSpPr>
        <p:spPr bwMode="auto">
          <a:xfrm>
            <a:off x="311700" y="699275"/>
            <a:ext cx="8520600" cy="43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Index Memory Footprint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  <a:defRPr/>
            </a:pPr>
            <a:r>
              <a:rPr lang="sr" sz="1100">
                <a:solidFill>
                  <a:schemeClr val="dk1"/>
                </a:solidFill>
              </a:rPr>
              <a:t>OpenZFS: DDT must fit in memory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❖"/>
              <a:defRPr/>
            </a:pPr>
            <a:r>
              <a:rPr lang="sr" sz="1100">
                <a:solidFill>
                  <a:schemeClr val="dk1"/>
                </a:solidFill>
              </a:rPr>
              <a:t>Other tools: memory reduction via indexing optimizations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Encryption Placement in Pipeline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  <a:defRPr/>
            </a:pPr>
            <a:r>
              <a:rPr lang="sr" sz="1100">
                <a:solidFill>
                  <a:schemeClr val="dk1"/>
                </a:solidFill>
              </a:rPr>
              <a:t>Correct order: Deduplication → Compression → Encryption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  <a:defRPr/>
            </a:pPr>
            <a:r>
              <a:rPr lang="sr" sz="1100">
                <a:solidFill>
                  <a:schemeClr val="dk1"/>
                </a:solidFill>
              </a:rPr>
              <a:t>Encrypting before deduplication breaks duplicate detection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sp>
        <p:nvSpPr>
          <p:cNvPr id="104817706" name="Google Shape;69;p15"/>
          <p:cNvSpPr txBox="1"/>
          <p:nvPr/>
        </p:nvSpPr>
        <p:spPr bwMode="auto">
          <a:xfrm>
            <a:off x="96599" y="51100"/>
            <a:ext cx="447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sr" sz="1800" b="1">
                <a:solidFill>
                  <a:srgbClr val="0000FF"/>
                </a:solidFill>
              </a:rPr>
              <a:t>Key Architectural Differences</a:t>
            </a:r>
            <a:endParaRPr sz="1800" b="1">
              <a:solidFill>
                <a:srgbClr val="0000FF"/>
              </a:solidFill>
            </a:endParaRPr>
          </a:p>
        </p:txBody>
      </p:sp>
      <p:cxnSp>
        <p:nvCxnSpPr>
          <p:cNvPr id="904418976" name="Google Shape;70;p15"/>
          <p:cNvCxnSpPr/>
          <p:nvPr/>
        </p:nvCxnSpPr>
        <p:spPr bwMode="auto">
          <a:xfrm>
            <a:off x="23300" y="512799"/>
            <a:ext cx="421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8199350" name="Google Shape;75;p16"/>
          <p:cNvSpPr txBox="1"/>
          <p:nvPr>
            <p:ph type="body" idx="1"/>
          </p:nvPr>
        </p:nvSpPr>
        <p:spPr bwMode="auto">
          <a:xfrm>
            <a:off x="311700" y="699275"/>
            <a:ext cx="8520600" cy="43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Impact on Deduplication Ratio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  <a:defRPr/>
            </a:pPr>
            <a:r>
              <a:rPr lang="sr" sz="1100">
                <a:solidFill>
                  <a:schemeClr val="dk1"/>
                </a:solidFill>
              </a:rPr>
              <a:t>CDC algorithms provide higher deduplication efficiency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  <a:defRPr/>
            </a:pPr>
            <a:r>
              <a:rPr lang="sr" sz="1100">
                <a:solidFill>
                  <a:schemeClr val="dk1"/>
                </a:solidFill>
              </a:rPr>
              <a:t>Fixed-size blocks detect fewer duplicates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Impact on CPU Load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  <a:defRPr/>
            </a:pPr>
            <a:r>
              <a:rPr lang="sr" sz="1100">
                <a:solidFill>
                  <a:schemeClr val="dk1"/>
                </a:solidFill>
              </a:rPr>
              <a:t>Kernel-level deduplication increases CPU overhead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  <a:defRPr/>
            </a:pPr>
            <a:r>
              <a:rPr lang="sr" sz="1100">
                <a:solidFill>
                  <a:schemeClr val="dk1"/>
                </a:solidFill>
              </a:rPr>
              <a:t>User-space tools allow better resource control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sp>
        <p:nvSpPr>
          <p:cNvPr id="1050855073" name="Google Shape;76;p16"/>
          <p:cNvSpPr txBox="1"/>
          <p:nvPr/>
        </p:nvSpPr>
        <p:spPr bwMode="auto">
          <a:xfrm>
            <a:off x="96599" y="51100"/>
            <a:ext cx="447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sr" sz="1800" b="1">
                <a:solidFill>
                  <a:srgbClr val="0000FF"/>
                </a:solidFill>
              </a:rPr>
              <a:t>Implications for Performance</a:t>
            </a:r>
            <a:endParaRPr sz="1800" b="1">
              <a:solidFill>
                <a:srgbClr val="0000FF"/>
              </a:solidFill>
            </a:endParaRPr>
          </a:p>
        </p:txBody>
      </p:sp>
      <p:cxnSp>
        <p:nvCxnSpPr>
          <p:cNvPr id="1084739010" name="Google Shape;77;p16"/>
          <p:cNvCxnSpPr/>
          <p:nvPr/>
        </p:nvCxnSpPr>
        <p:spPr bwMode="auto">
          <a:xfrm>
            <a:off x="23300" y="512799"/>
            <a:ext cx="421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089224" name="Google Shape;82;p17"/>
          <p:cNvSpPr txBox="1"/>
          <p:nvPr>
            <p:ph type="body" idx="1"/>
          </p:nvPr>
        </p:nvSpPr>
        <p:spPr bwMode="auto">
          <a:xfrm>
            <a:off x="311700" y="699275"/>
            <a:ext cx="8520600" cy="431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Impact on memory usage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  <a:defRPr/>
            </a:pPr>
            <a:r>
              <a:rPr lang="sr" sz="1100">
                <a:solidFill>
                  <a:schemeClr val="dk1"/>
                </a:solidFill>
              </a:rPr>
              <a:t>ZFS requires large RAM for the DDT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  <a:defRPr/>
            </a:pPr>
            <a:r>
              <a:rPr lang="sr" sz="1100">
                <a:solidFill>
                  <a:schemeClr val="dk1"/>
                </a:solidFill>
              </a:rPr>
              <a:t>Other systems reduce memory footprint using caching and partitioning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  <a:defRPr/>
            </a:pPr>
            <a:r>
              <a:rPr lang="sr" sz="1300" b="1">
                <a:solidFill>
                  <a:schemeClr val="dk1"/>
                </a:solidFill>
              </a:rPr>
              <a:t>Impact on storage efficiency</a:t>
            </a:r>
            <a:endParaRPr sz="1300" b="1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  <a:defRPr/>
            </a:pPr>
            <a:r>
              <a:rPr lang="sr" sz="1100">
                <a:solidFill>
                  <a:schemeClr val="dk1"/>
                </a:solidFill>
              </a:rPr>
              <a:t>Deduplication + compression maximize space savings</a:t>
            </a:r>
            <a:br>
              <a:rPr lang="sr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➢"/>
              <a:defRPr/>
            </a:pPr>
            <a:r>
              <a:rPr lang="sr" sz="1100">
                <a:solidFill>
                  <a:schemeClr val="dk1"/>
                </a:solidFill>
              </a:rPr>
              <a:t>Incorrect operation order reduces efficiency</a:t>
            </a:r>
            <a:endParaRPr sz="11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300" b="1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  <a:defRPr/>
            </a:pP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  <a:defRPr/>
            </a:pPr>
            <a:endParaRPr/>
          </a:p>
        </p:txBody>
      </p:sp>
      <p:sp>
        <p:nvSpPr>
          <p:cNvPr id="967347564" name="Google Shape;83;p17"/>
          <p:cNvSpPr txBox="1"/>
          <p:nvPr/>
        </p:nvSpPr>
        <p:spPr bwMode="auto">
          <a:xfrm>
            <a:off x="96599" y="51100"/>
            <a:ext cx="4475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sr" sz="1800" b="1">
                <a:solidFill>
                  <a:srgbClr val="0000FF"/>
                </a:solidFill>
              </a:rPr>
              <a:t>Implications for Performance</a:t>
            </a:r>
            <a:endParaRPr sz="1800" b="1">
              <a:solidFill>
                <a:srgbClr val="0000FF"/>
              </a:solidFill>
            </a:endParaRPr>
          </a:p>
        </p:txBody>
      </p:sp>
      <p:cxnSp>
        <p:nvCxnSpPr>
          <p:cNvPr id="1261197278" name="Google Shape;84;p17"/>
          <p:cNvCxnSpPr/>
          <p:nvPr/>
        </p:nvCxnSpPr>
        <p:spPr bwMode="auto">
          <a:xfrm>
            <a:off x="23300" y="512799"/>
            <a:ext cx="42111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1261335" name="Google Shape;17;p4"/>
          <p:cNvSpPr txBox="1"/>
          <p:nvPr>
            <p:ph type="title"/>
          </p:nvPr>
        </p:nvSpPr>
        <p:spPr bwMode="auto">
          <a:xfrm>
            <a:off x="311699" y="445024"/>
            <a:ext cx="8520599" cy="572699"/>
          </a:xfrm>
          <a:prstGeom prst="rect">
            <a:avLst/>
          </a:prstGeom>
        </p:spPr>
        <p:txBody>
          <a:bodyPr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r>
              <a:rPr sz="1800" b="1">
                <a:solidFill>
                  <a:srgbClr val="0000FF"/>
                </a:solidFill>
              </a:rPr>
              <a:t>Resources</a:t>
            </a:r>
            <a:endParaRPr sz="1800" b="1">
              <a:solidFill>
                <a:srgbClr val="0000FF"/>
              </a:solidFill>
            </a:endParaRPr>
          </a:p>
        </p:txBody>
      </p:sp>
      <p:sp>
        <p:nvSpPr>
          <p:cNvPr id="1394032093" name="Google Shape;18;p4"/>
          <p:cNvSpPr txBox="1"/>
          <p:nvPr>
            <p:ph type="body" idx="1"/>
          </p:nvPr>
        </p:nvSpPr>
        <p:spPr bwMode="auto">
          <a:xfrm>
            <a:off x="311699" y="1152474"/>
            <a:ext cx="8520599" cy="3416400"/>
          </a:xfrm>
          <a:prstGeom prst="rect">
            <a:avLst/>
          </a:prstGeom>
        </p:spPr>
        <p:txBody>
          <a:bodyPr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499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499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499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r>
              <a:rPr lang="en-US" sz="11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https://github.com/joke2k/faker</a:t>
            </a:r>
            <a:endParaRPr sz="1100"/>
          </a:p>
          <a:p>
            <a:pPr>
              <a:defRPr/>
            </a:pPr>
            <a:r>
              <a:rPr lang="en-US" sz="11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https://docs.redhat.com/en/documentation/red_hat_enterprise_linux/8/html/deduplicating_and_compressing_storage/deploying-vdo_deduplicating-and-compressing-storage</a:t>
            </a:r>
            <a:endParaRPr sz="1100"/>
          </a:p>
          <a:p>
            <a:pPr>
              <a:defRPr/>
            </a:pPr>
            <a:r>
              <a:rPr lang="en-US" sz="1100" b="0" i="0" u="none" strike="noStrike" cap="none" spc="0">
                <a:solidFill>
                  <a:schemeClr val="dk2"/>
                </a:solidFill>
                <a:latin typeface="Arial"/>
                <a:ea typeface="Arial"/>
                <a:cs typeface="Arial"/>
              </a:rPr>
              <a:t>https://tecadmin.net/iostat-command-in-linux/</a:t>
            </a:r>
            <a:endParaRPr sz="11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ONLYOFFICE/9.1.0.173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